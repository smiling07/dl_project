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6" r:id="rId5"/>
    <p:sldId id="261" r:id="rId6"/>
    <p:sldId id="260" r:id="rId7"/>
    <p:sldId id="263" r:id="rId8"/>
    <p:sldId id="264" r:id="rId9"/>
    <p:sldId id="265" r:id="rId10"/>
    <p:sldId id="267" r:id="rId11"/>
    <p:sldId id="274" r:id="rId12"/>
    <p:sldId id="275" r:id="rId13"/>
    <p:sldId id="259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62" r:id="rId22"/>
    <p:sldId id="28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92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B905"/>
                </a:solidFill>
                <a:latin typeface="Calibri"/>
              </a:defRPr>
            </a:pPr>
            <a:r>
              <a:t>REVIEW 2  •  BRAIN TUMOR CLASSIFICATION — PDCNN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Parallel Dilated CNN:</a:t>
            </a:r>
            <a:br/>
            <a:r>
              <a:t>Paper vs Our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6858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3"/>
                </a:solidFill>
                <a:latin typeface="Calibri"/>
              </a:defRPr>
            </a:pPr>
            <a:r>
              <a:rPr lang="en-US" dirty="0"/>
              <a:t>Research paper used:</a:t>
            </a:r>
          </a:p>
          <a:p>
            <a:pPr algn="l">
              <a:defRPr sz="1300" b="0">
                <a:solidFill>
                  <a:srgbClr val="E8EEF3"/>
                </a:solidFill>
                <a:latin typeface="Calibri"/>
              </a:defRPr>
            </a:pPr>
            <a:r>
              <a:rPr lang="en-US" dirty="0"/>
              <a:t>	</a:t>
            </a:r>
            <a:r>
              <a:rPr dirty="0"/>
              <a:t>Rahman et al., Digit</a:t>
            </a:r>
            <a:r>
              <a:rPr lang="en-IN" dirty="0"/>
              <a:t>al 2024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82930" y="3286125"/>
            <a:ext cx="64008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 dirty="0">
                <a:solidFill>
                  <a:schemeClr val="bg2"/>
                </a:solidFill>
                <a:latin typeface="Calibri"/>
              </a:rPr>
              <a:t>▸ Classes</a:t>
            </a:r>
            <a:endParaRPr lang="en-US" sz="1100" b="1" dirty="0">
              <a:solidFill>
                <a:schemeClr val="bg2"/>
              </a:solidFill>
              <a:latin typeface="Calibri"/>
            </a:endParaRPr>
          </a:p>
          <a:p>
            <a:pPr lvl="1">
              <a:spcAft>
                <a:spcPts val="500"/>
              </a:spcAft>
            </a:pPr>
            <a:r>
              <a:rPr lang="en-IN" sz="1100" dirty="0">
                <a:solidFill>
                  <a:schemeClr val="bg2"/>
                </a:solidFill>
              </a:rPr>
              <a:t>• glioma           (0)</a:t>
            </a:r>
            <a:endParaRPr lang="en-US" sz="1100" dirty="0">
              <a:solidFill>
                <a:schemeClr val="bg2"/>
              </a:solidFill>
              <a:latin typeface="Calibri"/>
            </a:endParaRPr>
          </a:p>
          <a:p>
            <a:pPr lvl="1">
              <a:spcAft>
                <a:spcPts val="500"/>
              </a:spcAft>
            </a:pPr>
            <a:r>
              <a:rPr lang="en-IN" sz="1100" dirty="0">
                <a:solidFill>
                  <a:schemeClr val="bg2"/>
                </a:solidFill>
                <a:latin typeface="Calibri"/>
              </a:rPr>
              <a:t>• </a:t>
            </a:r>
            <a:r>
              <a:rPr sz="1100" dirty="0">
                <a:solidFill>
                  <a:schemeClr val="bg2"/>
                </a:solidFill>
                <a:latin typeface="Calibri"/>
              </a:rPr>
              <a:t>meningioma (1) </a:t>
            </a:r>
            <a:endParaRPr lang="en-US" sz="1100" dirty="0">
              <a:solidFill>
                <a:schemeClr val="bg2"/>
              </a:solidFill>
              <a:latin typeface="Calibri"/>
            </a:endParaRPr>
          </a:p>
          <a:p>
            <a:pPr lvl="1">
              <a:spcAft>
                <a:spcPts val="500"/>
              </a:spcAft>
            </a:pPr>
            <a:r>
              <a:rPr sz="1100" dirty="0">
                <a:solidFill>
                  <a:schemeClr val="bg2"/>
                </a:solidFill>
                <a:latin typeface="Calibri"/>
              </a:rPr>
              <a:t>• no-tumor </a:t>
            </a:r>
            <a:r>
              <a:rPr lang="en-US" sz="1100" dirty="0">
                <a:solidFill>
                  <a:schemeClr val="bg2"/>
                </a:solidFill>
                <a:latin typeface="Calibri"/>
              </a:rPr>
              <a:t>     </a:t>
            </a:r>
            <a:r>
              <a:rPr sz="1100" dirty="0">
                <a:solidFill>
                  <a:schemeClr val="bg2"/>
                </a:solidFill>
                <a:latin typeface="Calibri"/>
              </a:rPr>
              <a:t>(2) </a:t>
            </a:r>
            <a:endParaRPr lang="en-US" sz="1100" dirty="0">
              <a:solidFill>
                <a:schemeClr val="bg2"/>
              </a:solidFill>
              <a:latin typeface="Calibri"/>
            </a:endParaRPr>
          </a:p>
          <a:p>
            <a:pPr lvl="1">
              <a:spcAft>
                <a:spcPts val="500"/>
              </a:spcAft>
            </a:pPr>
            <a:r>
              <a:rPr sz="1100" dirty="0">
                <a:solidFill>
                  <a:schemeClr val="bg2"/>
                </a:solidFill>
                <a:latin typeface="Calibri"/>
              </a:rPr>
              <a:t>• pituitary </a:t>
            </a:r>
            <a:r>
              <a:rPr lang="en-US" sz="1100" dirty="0">
                <a:solidFill>
                  <a:schemeClr val="bg2"/>
                </a:solidFill>
                <a:latin typeface="Calibri"/>
              </a:rPr>
              <a:t>       </a:t>
            </a:r>
            <a:r>
              <a:rPr sz="1100" dirty="0">
                <a:solidFill>
                  <a:schemeClr val="bg2"/>
                </a:solidFill>
                <a:latin typeface="Calibri"/>
              </a:rPr>
              <a:t>(3)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8609" y="3853480"/>
            <a:ext cx="3840480" cy="23717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95322" y="4265434"/>
            <a:ext cx="2926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Total</a:t>
            </a:r>
            <a:r>
              <a:rPr dirty="0"/>
              <a:t> 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5322" y="451165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A44"/>
                </a:solidFill>
                <a:latin typeface="Calibri"/>
              </a:defRPr>
            </a:pPr>
            <a:r>
              <a:rPr dirty="0"/>
              <a:t>12.62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5322" y="522031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rPr lang="en-IN" dirty="0"/>
              <a:t>OUR</a:t>
            </a:r>
            <a:r>
              <a:rPr dirty="0"/>
              <a:t> 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5322" y="542748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A44"/>
                </a:solidFill>
                <a:latin typeface="Calibri"/>
              </a:defRPr>
            </a:pPr>
            <a:r>
              <a:rPr dirty="0"/>
              <a:t>95.06%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87C2F-1AA2-AF5A-D8FE-92821DBD1A34}"/>
              </a:ext>
            </a:extLst>
          </p:cNvPr>
          <p:cNvSpPr txBox="1"/>
          <p:nvPr/>
        </p:nvSpPr>
        <p:spPr>
          <a:xfrm>
            <a:off x="682943" y="4973617"/>
            <a:ext cx="2755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Team members:</a:t>
            </a:r>
          </a:p>
          <a:p>
            <a:pPr lvl="1"/>
            <a:r>
              <a:rPr lang="en-IN" sz="1200" dirty="0">
                <a:solidFill>
                  <a:schemeClr val="bg2"/>
                </a:solidFill>
              </a:rPr>
              <a:t>•  </a:t>
            </a:r>
            <a:r>
              <a:rPr lang="en-US" sz="1200" dirty="0">
                <a:solidFill>
                  <a:schemeClr val="bg2"/>
                </a:solidFill>
              </a:rPr>
              <a:t>24BCA7061: Ahadsha Nowshad</a:t>
            </a:r>
          </a:p>
          <a:p>
            <a:pPr lvl="1"/>
            <a:r>
              <a:rPr lang="en-IN" sz="1200" dirty="0">
                <a:solidFill>
                  <a:schemeClr val="bg2"/>
                </a:solidFill>
              </a:rPr>
              <a:t>•  </a:t>
            </a:r>
            <a:r>
              <a:rPr lang="en-US" sz="1200" dirty="0">
                <a:solidFill>
                  <a:schemeClr val="bg2"/>
                </a:solidFill>
              </a:rPr>
              <a:t>24BCA7799: Arjun S</a:t>
            </a:r>
          </a:p>
          <a:p>
            <a:pPr lvl="1"/>
            <a:r>
              <a:rPr lang="en-IN" sz="1200" dirty="0">
                <a:solidFill>
                  <a:schemeClr val="bg2"/>
                </a:solidFill>
              </a:rPr>
              <a:t>•  </a:t>
            </a:r>
            <a:r>
              <a:rPr lang="en-US" sz="1200" dirty="0">
                <a:solidFill>
                  <a:schemeClr val="bg2"/>
                </a:solidFill>
              </a:rPr>
              <a:t>24BCA7008: Renuka Saire</a:t>
            </a:r>
          </a:p>
          <a:p>
            <a:pPr lvl="1"/>
            <a:r>
              <a:rPr lang="en-IN" sz="1200" dirty="0">
                <a:solidFill>
                  <a:schemeClr val="bg2"/>
                </a:solidFill>
              </a:rPr>
              <a:t>•  </a:t>
            </a:r>
            <a:r>
              <a:rPr lang="en-US" sz="1200" dirty="0">
                <a:solidFill>
                  <a:schemeClr val="bg2"/>
                </a:solidFill>
              </a:rPr>
              <a:t>24BCA7650: Pradeep </a:t>
            </a:r>
            <a:r>
              <a:rPr lang="en-US" sz="1200" dirty="0" err="1">
                <a:solidFill>
                  <a:schemeClr val="bg2"/>
                </a:solidFill>
              </a:rPr>
              <a:t>kumar</a:t>
            </a:r>
            <a:endParaRPr lang="en-IN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03  • 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Paper PDCNN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/>
              <a:t>PDCNN</a:t>
            </a:r>
          </a:p>
        </p:txBody>
      </p:sp>
      <p:pic>
        <p:nvPicPr>
          <p:cNvPr id="7" name="Picture 6" descr="fig4_cropped.png"/>
          <p:cNvPicPr>
            <a:picLocks noChangeAspect="1"/>
          </p:cNvPicPr>
          <p:nvPr/>
        </p:nvPicPr>
        <p:blipFill>
          <a:blip r:embed="rId2"/>
          <a:srcRect l="11170" b="7800"/>
          <a:stretch>
            <a:fillRect/>
          </a:stretch>
        </p:blipFill>
        <p:spPr>
          <a:xfrm>
            <a:off x="109539" y="2187701"/>
            <a:ext cx="6298704" cy="3419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821E4E-403B-5D42-7EE4-ED905CD37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3"/>
          <a:stretch>
            <a:fillRect/>
          </a:stretch>
        </p:blipFill>
        <p:spPr>
          <a:xfrm>
            <a:off x="6496050" y="2721508"/>
            <a:ext cx="4886676" cy="2381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02  • 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Dataset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/>
              <a:t>PDCNN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52807"/>
              </p:ext>
            </p:extLst>
          </p:nvPr>
        </p:nvGraphicFramePr>
        <p:xfrm>
          <a:off x="1095375" y="1923095"/>
          <a:ext cx="9896478" cy="2855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518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Meningioma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No-tumor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Pituitary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8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5,600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8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1,600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F3081776-274A-360E-7D7D-FC037A079EC4}"/>
              </a:ext>
            </a:extLst>
          </p:cNvPr>
          <p:cNvSpPr/>
          <p:nvPr/>
        </p:nvSpPr>
        <p:spPr>
          <a:xfrm>
            <a:off x="793269" y="5127931"/>
            <a:ext cx="10106350" cy="1299107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BADC97D5-CBD9-8DF4-8227-226F01651AD3}"/>
              </a:ext>
            </a:extLst>
          </p:cNvPr>
          <p:cNvSpPr/>
          <p:nvPr/>
        </p:nvSpPr>
        <p:spPr>
          <a:xfrm>
            <a:off x="323385" y="3125205"/>
            <a:ext cx="8409134" cy="144775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2447F9E1-5A14-0982-EFBA-74CFE354F67A}"/>
              </a:ext>
            </a:extLst>
          </p:cNvPr>
          <p:cNvSpPr/>
          <p:nvPr/>
        </p:nvSpPr>
        <p:spPr>
          <a:xfrm>
            <a:off x="7663117" y="1449495"/>
            <a:ext cx="4300283" cy="1452260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5E171B89-7632-6A1F-989B-78AE5FCD62F7}"/>
              </a:ext>
            </a:extLst>
          </p:cNvPr>
          <p:cNvSpPr/>
          <p:nvPr/>
        </p:nvSpPr>
        <p:spPr>
          <a:xfrm>
            <a:off x="145987" y="1474564"/>
            <a:ext cx="7197090" cy="1447755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dirty="0"/>
              <a:t>05  • 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Flowchar</a:t>
            </a:r>
            <a:r>
              <a:rPr lang="en-US" dirty="0"/>
              <a:t>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/>
              <a:t>PDCN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69812" y="1550249"/>
            <a:ext cx="13716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532" y="1595969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532" y="2007449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(B,3,224,224)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1412" y="200744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1452" y="1550249"/>
            <a:ext cx="155448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7172" y="159596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br>
              <a:rPr dirty="0"/>
            </a:br>
            <a:r>
              <a:rPr dirty="0"/>
              <a:t>Conv 3→64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7172" y="2007449"/>
            <a:ext cx="1463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Conv 3→64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(B,64,224,224)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932" y="200744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5972" y="1550249"/>
            <a:ext cx="155448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1691" y="159596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br>
              <a:rPr dirty="0"/>
            </a:br>
            <a:r>
              <a:rPr dirty="0"/>
              <a:t>Conv 64→64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1691" y="2007449"/>
            <a:ext cx="1463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lang="en-IN" sz="900" b="1" dirty="0">
                <a:solidFill>
                  <a:srgbClr val="FFFFFF"/>
                </a:solidFill>
                <a:latin typeface="Calibri"/>
              </a:rPr>
              <a:t>Conv 64→64</a:t>
            </a:r>
            <a:endParaRPr lang="en-US" dirty="0"/>
          </a:p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(B,64,224,224)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0452" y="200744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0492" y="1550249"/>
            <a:ext cx="155448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56211" y="1595969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br>
              <a:rPr lang="en-IN" dirty="0"/>
            </a:br>
            <a:r>
              <a:rPr dirty="0" err="1"/>
              <a:t>MaxPool</a:t>
            </a:r>
            <a:r>
              <a:rPr dirty="0"/>
              <a:t> /2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6211" y="2007449"/>
            <a:ext cx="1463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(B,64,112,112)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02880" y="1561333"/>
            <a:ext cx="1463040" cy="118872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48600" y="1607053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br>
              <a:rPr lang="en-IN" dirty="0"/>
            </a:br>
            <a:r>
              <a:rPr dirty="0"/>
              <a:t>×3 copies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2018533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(B,64,112,112)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920" y="2018533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5960" y="1561333"/>
            <a:ext cx="2286000" cy="118872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31680" y="1810923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 </a:t>
            </a:r>
            <a:r>
              <a:rPr lang="en-US" dirty="0"/>
              <a:t>DIALATION </a:t>
            </a:r>
            <a:r>
              <a:rPr dirty="0"/>
              <a:t>BRANCHES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1680" y="2018533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 × (B,512)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" y="4856456"/>
            <a:ext cx="1143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rPr dirty="0"/>
              <a:t>ONE </a:t>
            </a:r>
            <a:r>
              <a:rPr lang="en-US" dirty="0"/>
              <a:t>DIALATED BRANCH</a:t>
            </a:r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9969190" y="295081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rPr dirty="0"/>
              <a:t>×3</a:t>
            </a:r>
            <a:br>
              <a:rPr dirty="0"/>
            </a:br>
            <a:r>
              <a:rPr dirty="0"/>
              <a:t>branches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352655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7F79"/>
                </a:solidFill>
                <a:latin typeface="Calibri"/>
              </a:defRPr>
            </a:pPr>
            <a:r>
              <a:rPr dirty="0" err="1"/>
              <a:t>softmax</a:t>
            </a:r>
            <a:r>
              <a:rPr dirty="0"/>
              <a:t> → probs</a:t>
            </a:r>
            <a:br>
              <a:rPr dirty="0"/>
            </a:br>
            <a:r>
              <a:rPr dirty="0"/>
              <a:t>argmax → 0/1/2/3</a:t>
            </a:r>
          </a:p>
        </p:txBody>
      </p:sp>
      <p:sp>
        <p:nvSpPr>
          <p:cNvPr id="68" name="Rounded Rectangle 30">
            <a:extLst>
              <a:ext uri="{FF2B5EF4-FFF2-40B4-BE49-F238E27FC236}">
                <a16:creationId xmlns:a16="http://schemas.microsoft.com/office/drawing/2014/main" id="{64E94D93-EDE2-93E0-78C7-DF7F9156D554}"/>
              </a:ext>
            </a:extLst>
          </p:cNvPr>
          <p:cNvSpPr/>
          <p:nvPr/>
        </p:nvSpPr>
        <p:spPr>
          <a:xfrm>
            <a:off x="868680" y="5216841"/>
            <a:ext cx="17373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16353D-F588-0065-BEA9-3F66DE26B7A8}"/>
              </a:ext>
            </a:extLst>
          </p:cNvPr>
          <p:cNvSpPr txBox="1"/>
          <p:nvPr/>
        </p:nvSpPr>
        <p:spPr>
          <a:xfrm>
            <a:off x="914400" y="5262561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Conv+P</a:t>
            </a:r>
            <a:br/>
            <a:r>
              <a:t>64→128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027662-E952-9F75-C320-AE0B87C0F68D}"/>
              </a:ext>
            </a:extLst>
          </p:cNvPr>
          <p:cNvSpPr txBox="1"/>
          <p:nvPr/>
        </p:nvSpPr>
        <p:spPr>
          <a:xfrm>
            <a:off x="914400" y="5674041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000" b="1" dirty="0" err="1">
                <a:latin typeface="Calibri"/>
              </a:rPr>
              <a:t>Conv+P</a:t>
            </a:r>
            <a:r>
              <a:rPr sz="1000" b="1" dirty="0">
                <a:latin typeface="Calibri"/>
              </a:rPr>
              <a:t> 64→128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d1 (B,128,56,56)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d2 (B,128,55,55)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d3 (B,128,54,54)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9296F2-AD52-A167-68D2-963B8CF4A722}"/>
              </a:ext>
            </a:extLst>
          </p:cNvPr>
          <p:cNvSpPr txBox="1"/>
          <p:nvPr/>
        </p:nvSpPr>
        <p:spPr>
          <a:xfrm>
            <a:off x="2606040" y="562832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2" name="Rounded Rectangle 34">
            <a:extLst>
              <a:ext uri="{FF2B5EF4-FFF2-40B4-BE49-F238E27FC236}">
                <a16:creationId xmlns:a16="http://schemas.microsoft.com/office/drawing/2014/main" id="{B69E6600-E755-9D1E-724C-791A8CCF705D}"/>
              </a:ext>
            </a:extLst>
          </p:cNvPr>
          <p:cNvSpPr/>
          <p:nvPr/>
        </p:nvSpPr>
        <p:spPr>
          <a:xfrm>
            <a:off x="2926080" y="5216841"/>
            <a:ext cx="17373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DF37BA-77F6-B90D-645A-3083C6F599E4}"/>
              </a:ext>
            </a:extLst>
          </p:cNvPr>
          <p:cNvSpPr txBox="1"/>
          <p:nvPr/>
        </p:nvSpPr>
        <p:spPr>
          <a:xfrm>
            <a:off x="2971799" y="5262561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Conv+P</a:t>
            </a:r>
            <a:br/>
            <a:r>
              <a:t>128→256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3C1F563-2449-6C3C-F3B5-72B8D4B8A352}"/>
              </a:ext>
            </a:extLst>
          </p:cNvPr>
          <p:cNvSpPr txBox="1"/>
          <p:nvPr/>
        </p:nvSpPr>
        <p:spPr>
          <a:xfrm>
            <a:off x="2971799" y="5674041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000" b="1">
                <a:latin typeface="Calibri"/>
              </a:rPr>
              <a:t>Conv+P 128→256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d1 (B,256,28,28)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d2 (B,256,26,26)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d3 (B,256,25,25)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668404-6036-E0C3-0CCF-EA62EF936598}"/>
              </a:ext>
            </a:extLst>
          </p:cNvPr>
          <p:cNvSpPr txBox="1"/>
          <p:nvPr/>
        </p:nvSpPr>
        <p:spPr>
          <a:xfrm>
            <a:off x="4663440" y="562832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76" name="Rounded Rectangle 38">
            <a:extLst>
              <a:ext uri="{FF2B5EF4-FFF2-40B4-BE49-F238E27FC236}">
                <a16:creationId xmlns:a16="http://schemas.microsoft.com/office/drawing/2014/main" id="{556FF7A6-CDBB-0848-93FC-3D18B0D430E6}"/>
              </a:ext>
            </a:extLst>
          </p:cNvPr>
          <p:cNvSpPr/>
          <p:nvPr/>
        </p:nvSpPr>
        <p:spPr>
          <a:xfrm>
            <a:off x="4983480" y="5216841"/>
            <a:ext cx="17373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7B921C-B26E-3A98-47C8-D13FA20EB7CE}"/>
              </a:ext>
            </a:extLst>
          </p:cNvPr>
          <p:cNvSpPr txBox="1"/>
          <p:nvPr/>
        </p:nvSpPr>
        <p:spPr>
          <a:xfrm>
            <a:off x="5029200" y="5262561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Conv+P</a:t>
            </a:r>
            <a:br/>
            <a:r>
              <a:t>256→512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AEF228-0EE2-301F-B8AB-D719593F4618}"/>
              </a:ext>
            </a:extLst>
          </p:cNvPr>
          <p:cNvSpPr txBox="1"/>
          <p:nvPr/>
        </p:nvSpPr>
        <p:spPr>
          <a:xfrm>
            <a:off x="5029200" y="5674041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000" b="1">
                <a:latin typeface="Calibri"/>
              </a:rPr>
              <a:t>Conv+P 256→512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d1 (B,512,14,14)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d2 (B,512,12,12)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d3 (B,512,10,10)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ADC3F1-691F-B58F-543B-60F3F6C48F7F}"/>
              </a:ext>
            </a:extLst>
          </p:cNvPr>
          <p:cNvSpPr txBox="1"/>
          <p:nvPr/>
        </p:nvSpPr>
        <p:spPr>
          <a:xfrm>
            <a:off x="6720840" y="562832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0" name="Rounded Rectangle 42">
            <a:extLst>
              <a:ext uri="{FF2B5EF4-FFF2-40B4-BE49-F238E27FC236}">
                <a16:creationId xmlns:a16="http://schemas.microsoft.com/office/drawing/2014/main" id="{9467DE2D-75A2-7DE7-C1F8-ED2E5A4812F2}"/>
              </a:ext>
            </a:extLst>
          </p:cNvPr>
          <p:cNvSpPr/>
          <p:nvPr/>
        </p:nvSpPr>
        <p:spPr>
          <a:xfrm>
            <a:off x="7040880" y="5216841"/>
            <a:ext cx="17373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72B042-2CAE-27AD-E7A1-25AAF17416EC}"/>
              </a:ext>
            </a:extLst>
          </p:cNvPr>
          <p:cNvSpPr txBox="1"/>
          <p:nvPr/>
        </p:nvSpPr>
        <p:spPr>
          <a:xfrm>
            <a:off x="7086600" y="5262561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Conv</a:t>
            </a:r>
            <a:br>
              <a:rPr dirty="0"/>
            </a:br>
            <a:r>
              <a:rPr dirty="0"/>
              <a:t>512→512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84587B8-247D-5238-7E7A-81093799B309}"/>
              </a:ext>
            </a:extLst>
          </p:cNvPr>
          <p:cNvSpPr txBox="1"/>
          <p:nvPr/>
        </p:nvSpPr>
        <p:spPr>
          <a:xfrm>
            <a:off x="7086600" y="5674041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sz="1000" b="1" dirty="0">
                <a:latin typeface="Calibri"/>
              </a:rPr>
              <a:t>Conv 512→512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d1 (B,512,14,14)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d2 (B,512,10,10)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d3 (B,512,6,6)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F4C3FC-2E3F-537B-19A7-1743A41B39D0}"/>
              </a:ext>
            </a:extLst>
          </p:cNvPr>
          <p:cNvSpPr txBox="1"/>
          <p:nvPr/>
        </p:nvSpPr>
        <p:spPr>
          <a:xfrm>
            <a:off x="8778240" y="562832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4" name="Rounded Rectangle 46">
            <a:extLst>
              <a:ext uri="{FF2B5EF4-FFF2-40B4-BE49-F238E27FC236}">
                <a16:creationId xmlns:a16="http://schemas.microsoft.com/office/drawing/2014/main" id="{00EB9586-8AFB-4EB2-3A26-B160755AB3D5}"/>
              </a:ext>
            </a:extLst>
          </p:cNvPr>
          <p:cNvSpPr/>
          <p:nvPr/>
        </p:nvSpPr>
        <p:spPr>
          <a:xfrm>
            <a:off x="9098280" y="5216841"/>
            <a:ext cx="17373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96A03E-3FB2-6AF9-6136-B258146156F4}"/>
              </a:ext>
            </a:extLst>
          </p:cNvPr>
          <p:cNvSpPr txBox="1"/>
          <p:nvPr/>
        </p:nvSpPr>
        <p:spPr>
          <a:xfrm>
            <a:off x="9144000" y="5262561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GAP+flat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58ED02-4321-FBFE-2231-E3C62A8872C2}"/>
              </a:ext>
            </a:extLst>
          </p:cNvPr>
          <p:cNvSpPr txBox="1"/>
          <p:nvPr/>
        </p:nvSpPr>
        <p:spPr>
          <a:xfrm>
            <a:off x="9144000" y="5674041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(B,512)</a:t>
            </a:r>
          </a:p>
        </p:txBody>
      </p:sp>
      <p:sp>
        <p:nvSpPr>
          <p:cNvPr id="133" name="Rounded Rectangle 51">
            <a:extLst>
              <a:ext uri="{FF2B5EF4-FFF2-40B4-BE49-F238E27FC236}">
                <a16:creationId xmlns:a16="http://schemas.microsoft.com/office/drawing/2014/main" id="{3AE62CCB-F301-4528-C3A6-1D42DA7D6459}"/>
              </a:ext>
            </a:extLst>
          </p:cNvPr>
          <p:cNvSpPr/>
          <p:nvPr/>
        </p:nvSpPr>
        <p:spPr>
          <a:xfrm>
            <a:off x="411480" y="3246590"/>
            <a:ext cx="2011680" cy="11430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A5B03F4-8446-B868-77CC-B3613172E274}"/>
              </a:ext>
            </a:extLst>
          </p:cNvPr>
          <p:cNvSpPr txBox="1"/>
          <p:nvPr/>
        </p:nvSpPr>
        <p:spPr>
          <a:xfrm>
            <a:off x="457199" y="329231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CONCAT</a:t>
            </a:r>
            <a:br/>
            <a:r>
              <a:t>3×512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3EF5287-E224-FB95-262B-C054EBBD8116}"/>
              </a:ext>
            </a:extLst>
          </p:cNvPr>
          <p:cNvSpPr txBox="1"/>
          <p:nvPr/>
        </p:nvSpPr>
        <p:spPr>
          <a:xfrm>
            <a:off x="457199" y="370379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(B,1536)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2C4D17B-07C5-4C58-3E65-FB445287C413}"/>
              </a:ext>
            </a:extLst>
          </p:cNvPr>
          <p:cNvSpPr txBox="1"/>
          <p:nvPr/>
        </p:nvSpPr>
        <p:spPr>
          <a:xfrm>
            <a:off x="2423160" y="370379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1" name="Rounded Rectangle 55">
            <a:extLst>
              <a:ext uri="{FF2B5EF4-FFF2-40B4-BE49-F238E27FC236}">
                <a16:creationId xmlns:a16="http://schemas.microsoft.com/office/drawing/2014/main" id="{58FC8895-6765-3075-1560-50286D12E17C}"/>
              </a:ext>
            </a:extLst>
          </p:cNvPr>
          <p:cNvSpPr/>
          <p:nvPr/>
        </p:nvSpPr>
        <p:spPr>
          <a:xfrm>
            <a:off x="2743200" y="3246590"/>
            <a:ext cx="2194560" cy="1143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C13B756-7A6C-E9E7-12AF-F6C36E24B5C6}"/>
              </a:ext>
            </a:extLst>
          </p:cNvPr>
          <p:cNvSpPr txBox="1"/>
          <p:nvPr/>
        </p:nvSpPr>
        <p:spPr>
          <a:xfrm>
            <a:off x="2788920" y="32923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 1536→512</a:t>
            </a:r>
            <a:br/>
            <a:r>
              <a:t>BN·ReLU·Drop.5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03DBBD9-7931-9D0A-2A52-CD630747A36A}"/>
              </a:ext>
            </a:extLst>
          </p:cNvPr>
          <p:cNvSpPr txBox="1"/>
          <p:nvPr/>
        </p:nvSpPr>
        <p:spPr>
          <a:xfrm>
            <a:off x="2788920" y="370379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(B,512)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8A743B3-5FE4-CCA6-79ED-606F60A45445}"/>
              </a:ext>
            </a:extLst>
          </p:cNvPr>
          <p:cNvSpPr txBox="1"/>
          <p:nvPr/>
        </p:nvSpPr>
        <p:spPr>
          <a:xfrm>
            <a:off x="4937760" y="370379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9" name="Rounded Rectangle 59">
            <a:extLst>
              <a:ext uri="{FF2B5EF4-FFF2-40B4-BE49-F238E27FC236}">
                <a16:creationId xmlns:a16="http://schemas.microsoft.com/office/drawing/2014/main" id="{DDD4DD68-EC99-C7CE-53EB-64BA1A0EE126}"/>
              </a:ext>
            </a:extLst>
          </p:cNvPr>
          <p:cNvSpPr/>
          <p:nvPr/>
        </p:nvSpPr>
        <p:spPr>
          <a:xfrm>
            <a:off x="5257799" y="3246590"/>
            <a:ext cx="1554480" cy="1143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84470E9-7D8E-04DE-8ADB-565CC36A5D24}"/>
              </a:ext>
            </a:extLst>
          </p:cNvPr>
          <p:cNvSpPr txBox="1"/>
          <p:nvPr/>
        </p:nvSpPr>
        <p:spPr>
          <a:xfrm>
            <a:off x="5303520" y="329231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 512→128</a:t>
            </a:r>
            <a:br/>
            <a:r>
              <a:t>ReLU·Drop.3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713E546-404A-1DCE-1777-B69FEED3DCB6}"/>
              </a:ext>
            </a:extLst>
          </p:cNvPr>
          <p:cNvSpPr txBox="1"/>
          <p:nvPr/>
        </p:nvSpPr>
        <p:spPr>
          <a:xfrm>
            <a:off x="5303520" y="3703790"/>
            <a:ext cx="1463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(B,128)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E034F60-0520-A3A0-23D5-102386414B1F}"/>
              </a:ext>
            </a:extLst>
          </p:cNvPr>
          <p:cNvSpPr txBox="1"/>
          <p:nvPr/>
        </p:nvSpPr>
        <p:spPr>
          <a:xfrm>
            <a:off x="6812280" y="370379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7" name="Rounded Rectangle 63">
            <a:extLst>
              <a:ext uri="{FF2B5EF4-FFF2-40B4-BE49-F238E27FC236}">
                <a16:creationId xmlns:a16="http://schemas.microsoft.com/office/drawing/2014/main" id="{D626446B-93F2-87D7-EA8A-AA0F251B8240}"/>
              </a:ext>
            </a:extLst>
          </p:cNvPr>
          <p:cNvSpPr/>
          <p:nvPr/>
        </p:nvSpPr>
        <p:spPr>
          <a:xfrm>
            <a:off x="7132320" y="3246590"/>
            <a:ext cx="1463040" cy="1143000"/>
          </a:xfrm>
          <a:prstGeom prst="roundRect">
            <a:avLst/>
          </a:prstGeom>
          <a:solidFill>
            <a:srgbClr val="E86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4E751FE-CC5D-7ACF-642B-9C09F52AB091}"/>
              </a:ext>
            </a:extLst>
          </p:cNvPr>
          <p:cNvSpPr txBox="1"/>
          <p:nvPr/>
        </p:nvSpPr>
        <p:spPr>
          <a:xfrm>
            <a:off x="7178040" y="329231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FC 128→4</a:t>
            </a:r>
            <a:br/>
            <a:r>
              <a:t>LOGITS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F017AC3-6B86-422E-62B1-75B4D9EBCDC5}"/>
              </a:ext>
            </a:extLst>
          </p:cNvPr>
          <p:cNvSpPr txBox="1"/>
          <p:nvPr/>
        </p:nvSpPr>
        <p:spPr>
          <a:xfrm>
            <a:off x="7178040" y="370379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(B,4)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E407BAB-6009-B59A-7BD5-CAB38793E9E7}"/>
              </a:ext>
            </a:extLst>
          </p:cNvPr>
          <p:cNvSpPr txBox="1"/>
          <p:nvPr/>
        </p:nvSpPr>
        <p:spPr>
          <a:xfrm>
            <a:off x="3390862" y="2644849"/>
            <a:ext cx="5422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STEM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557ED2-B311-85DA-6D0F-6477C10A4E08}"/>
              </a:ext>
            </a:extLst>
          </p:cNvPr>
          <p:cNvSpPr txBox="1"/>
          <p:nvPr/>
        </p:nvSpPr>
        <p:spPr>
          <a:xfrm>
            <a:off x="3995709" y="4324611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Classifier</a:t>
            </a:r>
            <a:endParaRPr lang="en-IN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34340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sz="2500" b="1" dirty="0">
                <a:solidFill>
                  <a:srgbClr val="FFFFFF"/>
                </a:solidFill>
                <a:latin typeface="Calibri"/>
              </a:rPr>
              <a:t>1. Stem</a:t>
            </a:r>
            <a:r>
              <a:rPr lang="en-US" sz="2500" b="1" dirty="0">
                <a:solidFill>
                  <a:srgbClr val="FFFFFF"/>
                </a:solidFill>
                <a:latin typeface="Calibri"/>
              </a:rPr>
              <a:t> </a:t>
            </a:r>
            <a:endParaRPr sz="2500" b="1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28665"/>
              </p:ext>
            </p:extLst>
          </p:nvPr>
        </p:nvGraphicFramePr>
        <p:xfrm>
          <a:off x="728662" y="1463039"/>
          <a:ext cx="10191750" cy="393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71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Out 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035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Input — RGB</a:t>
                      </a:r>
                      <a:r>
                        <a:rPr lang="en-US" sz="1200" dirty="0">
                          <a:solidFill>
                            <a:srgbClr val="0F2A44"/>
                          </a:solidFill>
                          <a:latin typeface="Calibri"/>
                        </a:rPr>
                        <a:t> Image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/255</a:t>
                      </a:r>
                      <a:r>
                        <a:rPr lang="en-US" sz="1200" dirty="0">
                          <a:solidFill>
                            <a:srgbClr val="0F2A44"/>
                          </a:solidFill>
                          <a:latin typeface="Calibri"/>
                        </a:rPr>
                        <a:t>(normalizing) </a:t>
                      </a:r>
                      <a:endParaRPr sz="12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(B, 3, 224, 224)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71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F2A44"/>
                          </a:solidFill>
                          <a:latin typeface="Calibri"/>
                        </a:rPr>
                        <a:t>ConvBlock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(3→64, d=1)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(B,3,224,224) → (B,64,224,224)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7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ConvBlock(64→64, d=1)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(B,64,224,224) → (B,64,224,224)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71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(B,64,224,224) → (B,64,112,112)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E27423-A715-48D9-0FCA-9A246CBA7134}"/>
              </a:ext>
            </a:extLst>
          </p:cNvPr>
          <p:cNvSpPr txBox="1"/>
          <p:nvPr/>
        </p:nvSpPr>
        <p:spPr>
          <a:xfrm>
            <a:off x="457200" y="10972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•  DATAFLOW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D1F48-DDC7-4F79-F736-1676925CD93D}"/>
              </a:ext>
            </a:extLst>
          </p:cNvPr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07130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sz="2500" b="1" dirty="0">
                <a:solidFill>
                  <a:srgbClr val="FFFFFF"/>
                </a:solidFill>
                <a:latin typeface="Calibri"/>
              </a:rPr>
              <a:t>2</a:t>
            </a:r>
            <a:r>
              <a:rPr lang="en-US" sz="2500" b="1" dirty="0">
                <a:solidFill>
                  <a:srgbClr val="FFFFFF"/>
                </a:solidFill>
                <a:latin typeface="Calibri"/>
              </a:rPr>
              <a:t>.</a:t>
            </a:r>
            <a:r>
              <a:rPr sz="2500" b="1" dirty="0">
                <a:solidFill>
                  <a:srgbClr val="FFFFFF"/>
                </a:solidFill>
                <a:latin typeface="Calibri"/>
              </a:rPr>
              <a:t> Branch d=1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409403"/>
              </p:ext>
            </p:extLst>
          </p:nvPr>
        </p:nvGraphicFramePr>
        <p:xfrm>
          <a:off x="457200" y="1463039"/>
          <a:ext cx="11247120" cy="4132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21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Out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ConvBlock(64→128, d=1)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(B,64,112,112) → (B,128,112,112)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(B,128,112,112) → (B,128,56,56)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ConvBlock(128→256, d=1)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(B,128,56,56) → (B,256,56,56)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(B,256,56,56) → (B,256,28,28)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ConvBlock(256→512, d=1)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(B,256,28,28) → (B,512,28,28)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(B,512,28,28) → (B,512,14,14)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ConvBlock(512→512, d=1, no pool)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(B,512,14,14) → (B,512,14,14)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2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AdaptiveAvgPool2d(1) + flatten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(B,512,14,14) → (B,512,1,1) → (B,512)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FE4414-C602-86F6-DF46-3796D46D911E}"/>
              </a:ext>
            </a:extLst>
          </p:cNvPr>
          <p:cNvSpPr txBox="1"/>
          <p:nvPr/>
        </p:nvSpPr>
        <p:spPr>
          <a:xfrm>
            <a:off x="457200" y="10972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 •  DATAFLOW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76A892-B4F7-7A3E-A4F9-FF326E089144}"/>
              </a:ext>
            </a:extLst>
          </p:cNvPr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06  • 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</a:t>
            </a:r>
            <a:r>
              <a:rPr lang="en-US" dirty="0"/>
              <a:t>. </a:t>
            </a:r>
            <a:r>
              <a:rPr dirty="0"/>
              <a:t>Branch d=2</a:t>
            </a:r>
            <a:r>
              <a:rPr lang="en-US" dirty="0"/>
              <a:t> 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32432"/>
              </p:ext>
            </p:extLst>
          </p:nvPr>
        </p:nvGraphicFramePr>
        <p:xfrm>
          <a:off x="457200" y="1463040"/>
          <a:ext cx="11247120" cy="447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31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Out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0F2A44"/>
                          </a:solidFill>
                          <a:latin typeface="Calibri"/>
                        </a:rPr>
                        <a:t>ConvBlock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(64→128, d=2)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(B,64,112,112) → (B,128,110,110)  (−2)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(B,128,110,110) → (B,128,55,55)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ConvBlock(128→256, d=2)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(B,128,55,55) → (B,256,53,53)  (−2)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(B,256,53,53) → (B,256,26,26)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ConvBlock(256→512, d=2)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(B,256,26,26) → (B,512,24,24)  (−2)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(B,512,24,24) → (B,512,12,12)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0F2A44"/>
                          </a:solidFill>
                          <a:latin typeface="Calibri"/>
                        </a:rPr>
                        <a:t>ConvBlock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(512→512, d=2, no pool)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(B,512,12,12) → (B,512,10,10)  (−2)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31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AdaptiveAvgPool2d(1) + flatten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(B,512,10,10) → (B,512,1,1) → (B,512)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0FCF955-25BF-71BC-1EFC-3C4752E3D6AD}"/>
              </a:ext>
            </a:extLst>
          </p:cNvPr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07  • 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2</a:t>
            </a:r>
            <a:r>
              <a:rPr lang="en-US" dirty="0"/>
              <a:t>. </a:t>
            </a:r>
            <a:r>
              <a:rPr dirty="0"/>
              <a:t>Branch d=3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808158"/>
              </p:ext>
            </p:extLst>
          </p:nvPr>
        </p:nvGraphicFramePr>
        <p:xfrm>
          <a:off x="457200" y="1463039"/>
          <a:ext cx="11247120" cy="4718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29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Laye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rs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Out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ConvBlock(64→128, d=3)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(B,64,112,112) → (B,128,108,108)  (−4)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(B,128,108,108) → (B,128,54,54)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ConvBlock(128→256, d=3)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(B,128,54,54) → (B,256,50,50)  (−4)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(B,256,50,50) → (B,256,25,25)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ConvBlock(256→512, d=3)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(B,256,25,25) → (B,512,21,21)  (−4)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MaxPool2d(2)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(B,512,21,21) → (B,512,10,10)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0F2A44"/>
                          </a:solidFill>
                          <a:latin typeface="Calibri"/>
                        </a:rPr>
                        <a:t>ConvBlock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(512→512, d=3, no pool)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(B,512,10,10) → (B,512,6,6)  (−4)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42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/>
                        </a:rPr>
                        <a:t>Global Average Pooling 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+ flatten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(B,512,6,6) → (B,512,1,1) → (B,512)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08  • 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3. </a:t>
            </a:r>
            <a:r>
              <a:rPr lang="en-US" dirty="0"/>
              <a:t>Concatenation + Classifier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983037"/>
              </p:ext>
            </p:extLst>
          </p:nvPr>
        </p:nvGraphicFramePr>
        <p:xfrm>
          <a:off x="457200" y="1463040"/>
          <a:ext cx="11247120" cy="3985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773">
                <a:tc>
                  <a:txBody>
                    <a:bodyPr/>
                    <a:lstStyle/>
                    <a:p>
                      <a:pPr algn="ctr"/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Out 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773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solidFill>
                            <a:srgbClr val="0F2A44"/>
                          </a:solidFill>
                          <a:latin typeface="Calibri"/>
                        </a:rPr>
                        <a:t>3</a:t>
                      </a:r>
                      <a:endParaRPr sz="12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F2A44"/>
                          </a:solidFill>
                          <a:latin typeface="Calibri"/>
                        </a:rPr>
                        <a:t>Concatination</a:t>
                      </a:r>
                      <a:endParaRPr sz="12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3×(B,512) → (B,1536)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773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4a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Linear(1536→512) + BN1d + </a:t>
                      </a:r>
                      <a:r>
                        <a:rPr sz="1200" dirty="0" err="1">
                          <a:solidFill>
                            <a:srgbClr val="0F2A44"/>
                          </a:solidFill>
                          <a:latin typeface="Calibri"/>
                        </a:rPr>
                        <a:t>ReLU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 + Dropout(0.5)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(B,1536) → (B,512)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773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4b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Linear(512→128) + ReLU + Dropout(0.3)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(B,512) → (B,128)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77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4c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Linear(128→4)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F2A44"/>
                          </a:solidFill>
                          <a:latin typeface="Calibri"/>
                        </a:rPr>
                        <a:t>(B,128) → (B,4)  raw logits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396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0F2A44"/>
                          </a:solidFill>
                          <a:latin typeface="Calibri"/>
                        </a:rPr>
                        <a:t>softmax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 → probs </a:t>
                      </a:r>
                      <a:r>
                        <a:rPr lang="en-US" sz="1200" dirty="0">
                          <a:solidFill>
                            <a:srgbClr val="0F2A44"/>
                          </a:solidFill>
                          <a:latin typeface="Calibri"/>
                        </a:rPr>
                        <a:t>then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0F2A44"/>
                          </a:solidFill>
                          <a:latin typeface="Calibri"/>
                        </a:rPr>
                        <a:t>(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argmax</a:t>
                      </a:r>
                      <a:r>
                        <a:rPr lang="en-US" sz="1200" dirty="0">
                          <a:solidFill>
                            <a:srgbClr val="0F2A44"/>
                          </a:solidFill>
                          <a:latin typeface="Calibri"/>
                        </a:rPr>
                        <a:t>)</a:t>
                      </a:r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 →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0F2A44"/>
                          </a:solidFill>
                          <a:latin typeface="Calibri"/>
                        </a:rPr>
                        <a:t>(B,4) → 0/1/2/3 = glioma / meningioma / no-tumor / pituitary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2101A0-DCAE-FF86-D120-E7B2C0A1C06D}"/>
              </a:ext>
            </a:extLst>
          </p:cNvPr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rPr sz="1100" b="1">
                <a:solidFill>
                  <a:srgbClr val="F2B905"/>
                </a:solidFill>
                <a:latin typeface="Calibri"/>
              </a:rPr>
              <a:t>09  •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Metrics &amp; Hyperparameters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19"/>
          <a:ext cx="5852160" cy="3454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943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94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Adam</a:t>
                      </a:r>
                      <a:r>
                        <a:rPr lang="en-US" sz="1000" dirty="0">
                          <a:solidFill>
                            <a:srgbClr val="0F2A44"/>
                          </a:solidFill>
                          <a:latin typeface="Calibri"/>
                        </a:rPr>
                        <a:t>(Learning_rate:</a:t>
                      </a:r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5e-4</a:t>
                      </a:r>
                      <a:r>
                        <a:rPr lang="en-US" sz="1000" dirty="0">
                          <a:solidFill>
                            <a:srgbClr val="0F2A44"/>
                          </a:solidFill>
                          <a:latin typeface="Calibri"/>
                        </a:rPr>
                        <a:t>)</a:t>
                      </a:r>
                      <a:endParaRPr sz="10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943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Loss / AMP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F2A44"/>
                          </a:solidFill>
                          <a:latin typeface="Calibri"/>
                        </a:rPr>
                        <a:t>Categorical </a:t>
                      </a:r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Cross Entropy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94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Batches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train 32, </a:t>
                      </a:r>
                      <a:r>
                        <a:rPr sz="1000" dirty="0" err="1">
                          <a:solidFill>
                            <a:srgbClr val="0F2A44"/>
                          </a:solidFill>
                          <a:latin typeface="Calibri"/>
                        </a:rPr>
                        <a:t>val</a:t>
                      </a:r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 128; 50 epochs; grad-clip 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943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12,624,196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8865A4-0A33-1272-1BAE-13B535731F59}"/>
              </a:ext>
            </a:extLst>
          </p:cNvPr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lang="en-US" dirty="0"/>
              <a:t>PDCNN</a:t>
            </a:r>
            <a:endParaRPr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57773"/>
              </p:ext>
            </p:extLst>
          </p:nvPr>
        </p:nvGraphicFramePr>
        <p:xfrm>
          <a:off x="2873692" y="5006911"/>
          <a:ext cx="58521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true \ pred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meningioma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 tumor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pituitary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meningioma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391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 tumor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pituitary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>
                    <a:solidFill>
                      <a:srgbClr val="D5E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7460C7-4904-4A85-411D-CC3E4E268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51856"/>
              </p:ext>
            </p:extLst>
          </p:nvPr>
        </p:nvGraphicFramePr>
        <p:xfrm>
          <a:off x="6489288" y="1417320"/>
          <a:ext cx="5245510" cy="3454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727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Class (n=400)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Prec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8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glioma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82.50%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99.70%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82.50%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90.29%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45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meningioma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97.75%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90.72%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97.75%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94.10%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8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no-tumor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93.90%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96.85%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83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pituitary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97.09%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98.52%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459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OVERALL / macro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95.06%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95.35%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95.06%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94.94%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C7CC6C2-5FC2-5901-8C10-7CF132F1B282}"/>
              </a:ext>
            </a:extLst>
          </p:cNvPr>
          <p:cNvSpPr txBox="1"/>
          <p:nvPr/>
        </p:nvSpPr>
        <p:spPr>
          <a:xfrm>
            <a:off x="692469" y="5275427"/>
            <a:ext cx="17792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F79"/>
                </a:solidFill>
                <a:latin typeface="Calibri"/>
              </a:defRPr>
            </a:pPr>
            <a:r>
              <a:rPr dirty="0"/>
              <a:t>CONFUSION MATRIX  </a:t>
            </a:r>
            <a:endParaRPr lang="en-US" dirty="0"/>
          </a:p>
          <a:p>
            <a:pPr algn="l">
              <a:defRPr sz="1100" b="1">
                <a:solidFill>
                  <a:srgbClr val="1B7F79"/>
                </a:solidFill>
                <a:latin typeface="Calibri"/>
              </a:defRPr>
            </a:pPr>
            <a:r>
              <a:rPr dirty="0"/>
              <a:t>rows=true,</a:t>
            </a:r>
            <a:endParaRPr lang="en-US" dirty="0"/>
          </a:p>
          <a:p>
            <a:pPr algn="l">
              <a:defRPr sz="1100" b="1">
                <a:solidFill>
                  <a:srgbClr val="1B7F79"/>
                </a:solidFill>
                <a:latin typeface="Calibri"/>
              </a:defRPr>
            </a:pPr>
            <a:r>
              <a:rPr dirty="0"/>
              <a:t>cols=predicted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B905"/>
                </a:solidFill>
                <a:latin typeface="Calibri"/>
              </a:defRPr>
            </a:pPr>
            <a:r>
              <a:rPr dirty="0"/>
              <a:t>REVIEW 2  •  BRAIN TUMOR CLASSIFICATION — </a:t>
            </a:r>
            <a:r>
              <a:rPr dirty="0" err="1"/>
              <a:t>ViT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858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Fine-Tuned Vision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36886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3"/>
                </a:solidFill>
                <a:latin typeface="Calibri"/>
              </a:defRPr>
            </a:pPr>
            <a:r>
              <a:rPr dirty="0"/>
              <a:t>ImageNet-pretrained </a:t>
            </a:r>
            <a:r>
              <a:rPr dirty="0" err="1"/>
              <a:t>ViT</a:t>
            </a:r>
            <a:r>
              <a:rPr dirty="0"/>
              <a:t> + new head, fine-tuned on our MRI splits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6210" y="1238250"/>
            <a:ext cx="3840480" cy="11620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38160" y="1463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rPr dirty="0"/>
              <a:t>PARAMS (b32)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A44"/>
                </a:solidFill>
                <a:latin typeface="Calibri"/>
              </a:defRPr>
            </a:pPr>
            <a:r>
              <a:rPr dirty="0"/>
              <a:t>87.65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03  •  ViT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DataFlow</a:t>
            </a:r>
            <a:r>
              <a:rPr lang="en-US" dirty="0"/>
              <a:t> Architecture ViTb32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/>
              <a:t>Fine-tuned </a:t>
            </a:r>
            <a:r>
              <a:rPr dirty="0" err="1"/>
              <a:t>ViT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123444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(B,3,224,224)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rPr dirty="0"/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554480"/>
            <a:ext cx="1371600" cy="1188720"/>
          </a:xfrm>
          <a:prstGeom prst="round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16002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PATCHIFY</a:t>
            </a:r>
            <a:br/>
            <a:r>
              <a:t>32×32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11680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49 × (32,32,3)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554480"/>
            <a:ext cx="155448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160020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FLATTEN +</a:t>
            </a:r>
            <a:br/>
            <a:r>
              <a:t>LINEAR 768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1" y="2104564"/>
            <a:ext cx="1463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(B,49,768)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554480"/>
            <a:ext cx="173736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160020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+ CLS + POS</a:t>
            </a:r>
            <a:br/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011680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(B,50,768)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554480"/>
            <a:ext cx="1828800" cy="118872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16002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ENCODER ×12</a:t>
            </a:r>
            <a:br>
              <a:rPr dirty="0"/>
            </a:br>
            <a:r>
              <a:rPr dirty="0"/>
              <a:t>M</a:t>
            </a:r>
            <a:r>
              <a:rPr lang="en-US" dirty="0"/>
              <a:t>H</a:t>
            </a:r>
            <a:r>
              <a:rPr dirty="0"/>
              <a:t>A → 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0116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(B,50,768)</a:t>
            </a:r>
            <a:br/>
            <a:r>
              <a:t>(kept)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011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554480"/>
            <a:ext cx="1280160" cy="118872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1600200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CLS →</a:t>
            </a:r>
            <a:br/>
            <a:r>
              <a:t>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011680"/>
            <a:ext cx="1188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(B,768)</a:t>
            </a:r>
            <a:br/>
            <a:r>
              <a:t>→ (B,4)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880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t>ONE ENCODER BLOCK EXPANDED  (×12 stacked, residual around each sub-layer, shape never changes)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246120"/>
            <a:ext cx="201168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29183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LN → M</a:t>
            </a:r>
            <a:r>
              <a:rPr lang="en-US" dirty="0"/>
              <a:t>H</a:t>
            </a:r>
            <a:r>
              <a:rPr dirty="0"/>
              <a:t>A</a:t>
            </a:r>
            <a:br>
              <a:rPr dirty="0"/>
            </a:br>
            <a:r>
              <a:rPr dirty="0"/>
              <a:t>12 heads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703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(B,50,768)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657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63240" y="3246120"/>
            <a:ext cx="201168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086100" y="3291839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LN → MLP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361411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(B,50,768)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657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52160" y="3246120"/>
            <a:ext cx="2194560" cy="114300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97880" y="32918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Classifier </a:t>
            </a:r>
            <a:r>
              <a:rPr dirty="0"/>
              <a:t>HEAD</a:t>
            </a:r>
            <a:br>
              <a:rPr dirty="0"/>
            </a:br>
            <a:r>
              <a:rPr dirty="0"/>
              <a:t>Flat·BN·Dense·BN·Dense4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(B,768)→(B,4)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3832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C7D"/>
                </a:solidFill>
                <a:latin typeface="Calibri"/>
              </a:defRPr>
            </a:pPr>
            <a:r>
              <a:t>b16 twin: 16×16 patches → 196 tokens → (B,197,768) → same ×12 → (B,4)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1051" y="4471416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A6C7D"/>
                </a:solidFill>
                <a:latin typeface="Calibri"/>
              </a:defRPr>
            </a:pPr>
            <a:r>
              <a:rPr dirty="0"/>
              <a:t>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4914899"/>
            <a:ext cx="2011680" cy="1097280"/>
          </a:xfrm>
          <a:prstGeom prst="roundRect">
            <a:avLst/>
          </a:prstGeom>
          <a:solidFill>
            <a:srgbClr val="E86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35039" y="496061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SOFTMAX /</a:t>
            </a:r>
            <a:br>
              <a:rPr dirty="0"/>
            </a:br>
            <a:r>
              <a:rPr dirty="0"/>
              <a:t>ARGMAX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39" y="5372099"/>
            <a:ext cx="192024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 probs</a:t>
            </a:r>
            <a:br>
              <a:rPr dirty="0"/>
            </a:br>
            <a:r>
              <a:rPr dirty="0"/>
              <a:t>0 / 1 / 2 /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15350" y="510235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A44"/>
                </a:solidFill>
                <a:latin typeface="Calibri"/>
              </a:defRPr>
            </a:pPr>
            <a:r>
              <a:rPr dirty="0"/>
              <a:t>glioma • meningioma • no-tumor • pituitary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04  • 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/>
              <a:t>Fine-tuned</a:t>
            </a:r>
            <a:r>
              <a:rPr lang="en-US" dirty="0"/>
              <a:t> </a:t>
            </a:r>
            <a:r>
              <a:rPr lang="en-US" dirty="0" err="1"/>
              <a:t>ViT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087100" cy="466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24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Layer (paper Sec 2.3)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Input RGB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(B,3,224,224)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0F2A44"/>
                          </a:solidFill>
                          <a:latin typeface="Calibri"/>
                        </a:rPr>
                        <a:t>Patchify</a:t>
                      </a:r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 32×32 non-overlap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(B,3,224,224)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49 × (B,32,32,3)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Flatten + Linear proj</a:t>
                      </a:r>
                      <a:r>
                        <a:rPr lang="en-US" sz="900" dirty="0">
                          <a:solidFill>
                            <a:srgbClr val="0F2A44"/>
                          </a:solidFill>
                          <a:latin typeface="Calibri"/>
                        </a:rPr>
                        <a:t>ection</a:t>
                      </a:r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 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49 × 3072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(B,49,768)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Prepend CLS + add pos-emb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(B,49,768)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Encoder ×12: LN→MSA-12h→resid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Encoder ×12: LN→MLP 768→3072→768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Take CLS token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(B,50,768)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(B,768)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rgbClr val="0F2A44"/>
                          </a:solidFill>
                          <a:latin typeface="Calibri"/>
                        </a:rPr>
                        <a:t>Classifier: </a:t>
                      </a:r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Head: Flatten→BN→Dense256→BN→Dense4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(B,768)</a:t>
                      </a:r>
                      <a:r>
                        <a:rPr lang="en-US" sz="900" dirty="0">
                          <a:solidFill>
                            <a:srgbClr val="0F2A44"/>
                          </a:solidFill>
                          <a:latin typeface="Calibri"/>
                        </a:rPr>
                        <a:t>-&gt;(B,256)-&gt;(B,4)</a:t>
                      </a:r>
                      <a:endParaRPr sz="9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(B,4) logits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24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0F2A44"/>
                          </a:solidFill>
                          <a:latin typeface="Calibri"/>
                        </a:rPr>
                        <a:t>Softmax</a:t>
                      </a:r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 / argmax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(B,4)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F2A44"/>
                          </a:solidFill>
                          <a:latin typeface="Calibri"/>
                        </a:rPr>
                        <a:t>class 0/1/2/3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76BB4C-C3A7-682D-7FAD-1CEB26C87C1B}"/>
              </a:ext>
            </a:extLst>
          </p:cNvPr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DataFlow</a:t>
            </a:r>
            <a:r>
              <a:rPr lang="en-US" dirty="0"/>
              <a:t> ViTb32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05  • 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138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Fine Tuning Plan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38138" y="841248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EF3"/>
                </a:solidFill>
                <a:latin typeface="Calibri"/>
              </a:defRPr>
            </a:pPr>
            <a:r>
              <a:rPr dirty="0"/>
              <a:t>Two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t>Fine-tuned ViT (Asiri et al., Sensors 2023)  •  our vit_b32 run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1988" y="1896427"/>
          <a:ext cx="10644188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1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1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1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Frozen?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LR (Adam)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 — head-only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/>
                        </a:rPr>
                        <a:t>Freeze 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backbone</a:t>
                      </a:r>
                      <a:r>
                        <a:rPr lang="en-IN" sz="1100" dirty="0">
                          <a:solidFill>
                            <a:srgbClr val="0F2A44"/>
                          </a:solidFill>
                          <a:latin typeface="Calibri"/>
                        </a:rPr>
                        <a:t>  (87M locked)</a:t>
                      </a:r>
                      <a:endParaRPr sz="11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head 1e-4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1–5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2 — full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0F2A44"/>
                          </a:solidFill>
                          <a:latin typeface="Calibri"/>
                        </a:rPr>
                        <a:t>Unfreeze all stages</a:t>
                      </a:r>
                      <a:endParaRPr sz="1100" dirty="0">
                        <a:solidFill>
                          <a:srgbClr val="0F2A44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head 1e-5, backbone 1e-6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06  • 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342900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Five Paper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t>Fine-tuned ViT (Asiri et al., Sensors 2023)  •  our vit_b32 run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0877552" cy="3142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9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9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9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9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7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Patches / backbone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 test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R50-ViT-l16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16×16 + ResNet-50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23.5M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90.31%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ViT-b16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16×16 / Base-86M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86.0M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97.89%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ViT-l16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16×16 / Large-304M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303.6M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0F2A44"/>
                          </a:solidFill>
                          <a:latin typeface="Calibri"/>
                        </a:rPr>
                        <a:t>val</a:t>
                      </a:r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 0.97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ViT-l32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32×32 / Large-306M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305.8M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val 0.94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716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ViT-b32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32×32 / Base-12L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87.7M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98.24%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B905"/>
                </a:solidFill>
                <a:latin typeface="Calibri"/>
              </a:defRPr>
            </a:pPr>
            <a:r>
              <a:rPr dirty="0"/>
              <a:t>REVIEW 2  •  BRAIN TUMOR CLASSIFICATION — </a:t>
            </a:r>
            <a:r>
              <a:rPr dirty="0" err="1"/>
              <a:t>RViT</a:t>
            </a:r>
            <a:r>
              <a:rPr dirty="0"/>
              <a:t>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ResNet</a:t>
            </a:r>
            <a:r>
              <a:rPr dirty="0"/>
              <a:t>–</a:t>
            </a:r>
            <a:r>
              <a:rPr dirty="0" err="1"/>
              <a:t>ViT</a:t>
            </a:r>
            <a:r>
              <a:rPr dirty="0"/>
              <a:t> Hybrid Transformer</a:t>
            </a:r>
            <a:br>
              <a:rPr dirty="0"/>
            </a:br>
            <a:r>
              <a:rPr dirty="0" err="1"/>
              <a:t>RViT-FusionNet</a:t>
            </a:r>
            <a:r>
              <a:rPr dirty="0"/>
              <a:t>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52410" y="914400"/>
            <a:ext cx="3840480" cy="148590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9610" y="125730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6C7D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9610" y="157734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2A44"/>
                </a:solidFill>
                <a:latin typeface="Calibri"/>
              </a:defRPr>
            </a:pPr>
            <a:r>
              <a:rPr dirty="0"/>
              <a:t>128.45 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-4572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03  •  PAPER DATAFLOW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Dataflo</a:t>
            </a:r>
            <a:r>
              <a:rPr lang="en-US" dirty="0"/>
              <a:t>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5166360" y="1371600"/>
            <a:ext cx="1828800" cy="4572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INPUT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[B, 3, 224, 224]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847088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4352" y="1847088"/>
            <a:ext cx="548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3566160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ResNet-50 · stem + 4 stages (Sec 3.4.1)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[B, 2048, 7, 7]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5592" y="2148840"/>
            <a:ext cx="3566160" cy="868680"/>
          </a:xfrm>
          <a:prstGeom prst="rect">
            <a:avLst/>
          </a:prstGeom>
          <a:solidFill>
            <a:srgbClr val="4A1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ViT · 196×(16×16) → embed 768 → encoders (Sec 3.4.2)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[B, 196, 768]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54680"/>
            <a:ext cx="3566160" cy="4572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ADAPT AVGPOOL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[B, 2048]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3154680"/>
            <a:ext cx="3566160" cy="4572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MEAN-POOL tokens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[B, 768]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30168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30168"/>
            <a:ext cx="5486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3822191"/>
            <a:ext cx="5056632" cy="932688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LCA · 8 HEADS (Sec 3.4.3) — queries: ResNet→768 (49) · keys/values: ViT (196) — asymmetric, ViT fixed</a:t>
            </a:r>
          </a:p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mean pool → [B, 1024]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822191"/>
            <a:ext cx="2834640" cy="932688"/>
          </a:xfrm>
          <a:prstGeom prst="roundRect">
            <a:avLst/>
          </a:prstGeom>
          <a:solidFill>
            <a:srgbClr val="8A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38953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DISCRIMINATOR † train-only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4325112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FFFFFF"/>
                </a:solidFill>
                <a:latin typeface="Calibri"/>
              </a:rPr>
              <a:t>▸ 3 convs on ResNet maps → [B,1,7,7]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FFFFFF"/>
                </a:solidFill>
                <a:latin typeface="Calibri"/>
              </a:rPr>
              <a:t>▸ random binary targets + BCE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4773168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4937760"/>
            <a:ext cx="5056632" cy="566928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FUSION GATE (Sec 3.4.5): per-sample weights over ResNet · ViT · LCA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→ [B, 1024]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5522976"/>
            <a:ext cx="548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A6C7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5687568"/>
            <a:ext cx="3200400" cy="4572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CLASSIFIER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[B, 4] · 4 tumor classes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05  •  RESNET INSIDE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ResNet-50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457200" y="1417320"/>
            <a:ext cx="1920240" cy="9144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INPUT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 [3, 224, 224]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17320"/>
            <a:ext cx="19202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CONV1 7×7 · 64 · s2 + BN + ReLU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[64, 112, 112]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417320"/>
            <a:ext cx="1920240" cy="91440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MAXPOOL 3×3 · s2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[64, 56, 56]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417320"/>
            <a:ext cx="192024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LAYER1 · 3× Bottleneck · 256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[256, 56, 56]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417320"/>
            <a:ext cx="1920240" cy="91440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LAYER2 · 4× Bottleneck · 512 · s2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[512, 28, 28]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2012" y="173736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292" y="173736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2572" y="173736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2852" y="173736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62438" y="2331720"/>
            <a:ext cx="32004" cy="2468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23060" y="2546603"/>
            <a:ext cx="875538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48739" y="2546603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F4E7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233172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LAYER3 · 6× Bottleneck · 1024 · s2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[1024, 14, 14]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834640"/>
            <a:ext cx="2331720" cy="91440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LAYER4 · 3× Bottleneck · 2048 · s2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[2048, 7, 7]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834640"/>
            <a:ext cx="2331720" cy="914400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ADAPTIVE AVGPOOL 1×1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[2048, 1, 1]</a:t>
            </a:r>
          </a:p>
        </p:txBody>
      </p:sp>
      <p:sp>
        <p:nvSpPr>
          <p:cNvPr id="22" name="Oval 21"/>
          <p:cNvSpPr/>
          <p:nvPr/>
        </p:nvSpPr>
        <p:spPr>
          <a:xfrm>
            <a:off x="8549640" y="2834640"/>
            <a:ext cx="2331720" cy="9144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>
              <a:defRPr sz="850">
                <a:solidFill>
                  <a:srgbClr val="0F2A44"/>
                </a:solidFill>
                <a:latin typeface="Calibri"/>
              </a:defRPr>
            </a:pPr>
            <a:r>
              <a:t>→ LCA + FUSION GATE</a:t>
            </a:r>
          </a:p>
          <a:p>
            <a:pPr algn="ctr">
              <a:defRPr sz="1000" b="1">
                <a:solidFill>
                  <a:srgbClr val="0F2A44"/>
                </a:solidFill>
                <a:latin typeface="Calibri"/>
              </a:defRPr>
            </a:pPr>
            <a:r>
              <a:t>[1024]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15468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315468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3154680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001" y="4430267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A44"/>
                </a:solidFill>
                <a:latin typeface="Calibri"/>
              </a:defRPr>
            </a:pPr>
            <a:r>
              <a:t>INSIDE ONE BOTTLENECK BLOCK (×16 blocks)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" y="4914899"/>
            <a:ext cx="2103120" cy="77724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1×1 conv, C · BN, ReLU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in 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79876" y="4914899"/>
            <a:ext cx="2103120" cy="77724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3×3 conv, C · s2 in stages 2–4 · BN, ReLU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kept / halved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0196" y="4914899"/>
            <a:ext cx="2103120" cy="777240"/>
          </a:xfrm>
          <a:prstGeom prst="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1×1 conv, 4C · BN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rPr dirty="0"/>
              <a:t>out 4C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91256" y="5166358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1576" y="5166358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5" y="5166358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4" name="Oval 33"/>
          <p:cNvSpPr/>
          <p:nvPr/>
        </p:nvSpPr>
        <p:spPr>
          <a:xfrm>
            <a:off x="8718804" y="5070347"/>
            <a:ext cx="457200" cy="457200"/>
          </a:xfrm>
          <a:prstGeom prst="ellipse">
            <a:avLst/>
          </a:prstGeom>
          <a:solidFill>
            <a:srgbClr val="E8EEF3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4E79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435" y="5166358"/>
            <a:ext cx="310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6C7D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69196" y="4914899"/>
            <a:ext cx="1143000" cy="777240"/>
          </a:xfrm>
          <a:prstGeom prst="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ReLU</a:t>
            </a:r>
          </a:p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out 4C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" y="4750307"/>
            <a:ext cx="32004" cy="55321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54964" y="4750307"/>
            <a:ext cx="8092440" cy="3200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31402" y="4750307"/>
            <a:ext cx="32004" cy="32003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04  • 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DataFlow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 (paper ref)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Input RGB 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3, 224, 224]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ResNet-50 stem + 4 stages (Sec 3.4.1)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3, 224, 224]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2048, 7, 7]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ViT 16×16 patchify + embed 768 (Sec 3.4.2)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3, 224, 224]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196, 768]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ResNet adapt-avgpool (Eq.2)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2048, 7, 7]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2048]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ViT mean-pool over 196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196, 768]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768]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LCA: ResNet→768 proj → 49 queries × ViT K/V (196), 8 heads, mean pool (Sec 3.4.3)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2048] + [B, 196, 768]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1024]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Fusion gate: per-sample weights over ResNet · ViT · LCA (Sec 3.4.5)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1024]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1024]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Classifier → 4 tumor classes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1024]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4] logits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Discriminator † train-only: 3 convs on ResNet maps (Sec 3.4.4)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2048, 7, 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[B, 1, 7, 7]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TOTAL — paper Table 2 (25.12 + 84.89 + 3.29 + 10.40 + 4.39 + 0.15M)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2A44"/>
                          </a:solidFill>
                          <a:latin typeface="Calibri"/>
                        </a:rPr>
                        <a:t>128.45M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06  •  FINE-TUNE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Fine Tuning mechanism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199" y="1463040"/>
          <a:ext cx="10920412" cy="260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0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7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Trainable?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LR (AdamW)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ResNet-50 backbone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frozen → progressive unfreeze @E1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25.12M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ViT backbone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frozen → unfreeze @E2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84.89M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LCA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trains all stages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5e-4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3.29M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7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Fusion + classifier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trains all stages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4.54M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08  •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Published </a:t>
            </a:r>
            <a:r>
              <a:rPr dirty="0" err="1"/>
              <a:t>RViT</a:t>
            </a:r>
            <a:r>
              <a:rPr dirty="0"/>
              <a:t> Results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Test set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DS1 (seen)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1,311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99.08% ± 0.16%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trained here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DS2 (unseen)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7,153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99.56% ± 0.17%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DS3 (unseen)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3,264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96.20% ± 0.25%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DS4 (unseen)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40,100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F2A44"/>
                          </a:solidFill>
                          <a:latin typeface="Calibri"/>
                        </a:rPr>
                        <a:t>94.76% ± 0.35%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0F2A44"/>
                          </a:solidFill>
                          <a:latin typeface="Calibri"/>
                        </a:rPr>
                        <a:t>zero-shot, largest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11887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B905"/>
                </a:solidFill>
                <a:latin typeface="Calibri"/>
              </a:defRPr>
            </a:pPr>
            <a:r>
              <a:t>09  •  FINE-TUNE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Progressive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A6C7D"/>
                </a:solidFill>
                <a:latin typeface="Calibri"/>
              </a:defRPr>
            </a:pPr>
            <a:r>
              <a:rPr dirty="0" err="1"/>
              <a:t>RViT-FusionNet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3566160" cy="1965960"/>
          </a:xfrm>
          <a:prstGeom prst="roundRect">
            <a:avLst/>
          </a:prstGeom>
          <a:solidFill>
            <a:srgbClr val="475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0 · epochs 1 → 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 dirty="0">
                <a:solidFill>
                  <a:srgbClr val="FFFFFF"/>
                </a:solidFill>
                <a:latin typeface="Calibri"/>
              </a:rPr>
              <a:t>▸ FROZEN: ResNet-50 (all blocks)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FFFFFF"/>
                </a:solidFill>
                <a:latin typeface="Calibri"/>
              </a:rPr>
              <a:t>▸ FROZEN: </a:t>
            </a:r>
            <a:r>
              <a:rPr sz="950" dirty="0" err="1">
                <a:solidFill>
                  <a:srgbClr val="FFFFFF"/>
                </a:solidFill>
                <a:latin typeface="Calibri"/>
              </a:rPr>
              <a:t>ViT</a:t>
            </a:r>
            <a:r>
              <a:rPr sz="950" dirty="0">
                <a:solidFill>
                  <a:srgbClr val="FFFFFF"/>
                </a:solidFill>
                <a:latin typeface="Calibri"/>
              </a:rPr>
              <a:t> backbone (all layers)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FFFFFF"/>
                </a:solidFill>
                <a:latin typeface="Calibri"/>
              </a:rPr>
              <a:t>▸ TRAINS: fusion + head @ 1e-3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FFFFFF"/>
                </a:solidFill>
                <a:latin typeface="Calibri"/>
              </a:rPr>
              <a:t>▸ TRAINS: LCA @ 5e-4</a:t>
            </a:r>
          </a:p>
          <a:p>
            <a:pPr>
              <a:spcAft>
                <a:spcPts val="200"/>
              </a:spcAft>
            </a:pPr>
            <a:r>
              <a:rPr sz="950" dirty="0">
                <a:solidFill>
                  <a:srgbClr val="FFFFFF"/>
                </a:solidFill>
                <a:latin typeface="Calibri"/>
              </a:rPr>
              <a:t>▸ goal: task head learns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566160" cy="196596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4904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1 · E1 → E2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UNFREEZE: deeper ResNet blocks (LR → 1e-5)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STILL FROZEN: ViT backbone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TRAINS ON: fusion + head, LCA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goal: adapt conv features, keep ViT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566160" cy="1965960"/>
          </a:xfrm>
          <a:prstGeom prst="roundRect">
            <a:avLst/>
          </a:prstGeom>
          <a:solidFill>
            <a:srgbClr val="1B7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4904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STAGE 2 · E2 →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UNFREEZE: ViT backbone @ 1e-5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full end-to-end training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cosine anneal + best-val checkpoint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FFFFFF"/>
                </a:solidFill>
                <a:latin typeface="Calibri"/>
              </a:rPr>
              <a:t>▸ discriminator active all stages (joint loss)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611880"/>
          <a:ext cx="11247120" cy="2369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65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 0 (1→E1)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 1 (E1→E2)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 2 (E2→50)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65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ResNet-50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FROZEN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deeper blocks → 1e-5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1e-5 (all)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553">
                <a:tc>
                  <a:txBody>
                    <a:bodyPr/>
                    <a:lstStyle/>
                    <a:p>
                      <a:pPr algn="l"/>
                      <a:r>
                        <a:rPr sz="1000" dirty="0" err="1">
                          <a:solidFill>
                            <a:srgbClr val="0F2A44"/>
                          </a:solidFill>
                          <a:latin typeface="Calibri"/>
                        </a:rPr>
                        <a:t>ViT</a:t>
                      </a:r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 backbone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FROZEN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FROZEN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→ 1e-5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65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Fusion +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653">
                <a:tc>
                  <a:txBody>
                    <a:bodyPr/>
                    <a:lstStyle/>
                    <a:p>
                      <a:pPr algn="l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LCA module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5e-4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5e-4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5e-4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65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CE + BCE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4"/>
                          </a:solidFill>
                          <a:latin typeface="Calibri"/>
                        </a:rPr>
                        <a:t>CE + BCE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dirty="0">
                          <a:solidFill>
                            <a:srgbClr val="0F2A44"/>
                          </a:solidFill>
                          <a:latin typeface="Calibri"/>
                        </a:rPr>
                        <a:t>CE + BCE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2741</Words>
  <Application>Microsoft Office PowerPoint</Application>
  <PresentationFormat>Widescreen</PresentationFormat>
  <Paragraphs>644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Ahadsha Nowshad</cp:lastModifiedBy>
  <cp:revision>15</cp:revision>
  <dcterms:created xsi:type="dcterms:W3CDTF">2013-01-27T09:14:16Z</dcterms:created>
  <dcterms:modified xsi:type="dcterms:W3CDTF">2026-10-13T05:56:48Z</dcterms:modified>
  <cp:category/>
</cp:coreProperties>
</file>